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509760" y="-5486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2801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技术中心 · 全员宣导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100584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时代,我们需要</a:t>
            </a:r>
            <a:endParaRPr lang="en-US" sz="50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什么样的研发人才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22960" y="3931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时代研发人才新画像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9692640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4892040"/>
            <a:ext cx="92354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 AI 时代的一次组织能力升级——</a:t>
            </a:r>
            <a:r>
              <a:rPr lang="en-US" sz="16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组织和个人一起面对变化、一起完成升级,不是突然换一把新尺子。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先看外部:ToB 市场正在发生什么变化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客户要的,不再只是系统功能,而是可落地的 AI 场景能力。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9344" y="1938528"/>
            <a:ext cx="731520" cy="73152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1214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834640"/>
            <a:ext cx="2450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行业在变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230428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正在进入零售行业的真实经营场景,改变品牌的运营方式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1938528"/>
            <a:ext cx="731520" cy="73152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1214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834640"/>
            <a:ext cx="2450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客户要的在变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3383280"/>
            <a:ext cx="230428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品牌客户开始期待 AI 直接帮他们做:会员经营、导购转化、活动运营、门店管理、私域运营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16459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8624" y="1938528"/>
            <a:ext cx="731520" cy="73152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1214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2834640"/>
            <a:ext cx="2450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EZR 的角色在变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92240" y="3383280"/>
            <a:ext cx="230428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把我们对服饰零售、会员经营、导购转化、私域运营的理解,变成客户可落地的 AI 场景能力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44000" y="164592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113264" y="1938528"/>
            <a:ext cx="731520" cy="73152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212140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53728" y="2834640"/>
            <a:ext cx="2450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组织能力必须升级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26880" y="3383280"/>
            <a:ext cx="2304288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要交付这种能力,技术中心必须先完成工作方式升级——这就是今天这场宣导的起点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3287268" y="2926080"/>
            <a:ext cx="16459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121908" y="2926080"/>
            <a:ext cx="16459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8956548" y="2926080"/>
            <a:ext cx="16459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3"/>
          <p:cNvSpPr/>
          <p:nvPr/>
        </p:nvSpPr>
        <p:spPr>
          <a:xfrm>
            <a:off x="640080" y="5166360"/>
            <a:ext cx="11173968" cy="868680"/>
          </a:xfrm>
          <a:prstGeom prst="roundRect">
            <a:avLst>
              <a:gd name="adj" fmla="val 8421"/>
            </a:avLst>
          </a:prstGeom>
          <a:solidFill>
            <a:srgbClr val="F2F8F3"/>
          </a:solidFill>
          <a:ln w="9525">
            <a:solidFill>
              <a:srgbClr val="57A77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5166360"/>
            <a:ext cx="1062532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6B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这是这次组织能力升级背后,真实的外部驱动力。</a:t>
            </a: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不是为了管理而管理,是市场已经走到了这里。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再看内部:为什么今天要讲这件事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728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过去我们看:任务按时完成、代码质量、Bug 多不多、响应是否及时、能否独立负责模块。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这些标准过去有效,现在也仍然重要。但 AI 出现以后,研发工作的底层方式正在变化——很多依赖人力执行的确定性工作,会越来越多被 AI 辅助、甚至部分替代。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6766560" cy="3246120"/>
          </a:xfrm>
          <a:prstGeom prst="roundRect">
            <a:avLst>
              <a:gd name="adj" fmla="val 2254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14600"/>
            <a:ext cx="6217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真正稀缺的能力,开始变化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3017520"/>
            <a:ext cx="621792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能不能定义问题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能不能解决复杂问题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能不能推动结果闭环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能不能把个人经验沉淀成团队资产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能不能把 AI 融入自己的工作方式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能不能帮助客户完成真实业务场景的落地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0" y="2331720"/>
            <a:ext cx="3840480" cy="3246120"/>
          </a:xfrm>
          <a:prstGeom prst="roundRect">
            <a:avLst>
              <a:gd name="adj" fmla="val 2254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73568" y="2606040"/>
            <a:ext cx="640080" cy="64008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187" y="2759659"/>
            <a:ext cx="332842" cy="33284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0" y="2670048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EZR 来说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73568" y="3310128"/>
            <a:ext cx="329184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不只用来提升内部研发效率。我们要用 AI 帮客户把会员经营、导购转化、活动运营、门店管理这些场景真正落地。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73568" y="466344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要做到这件事,技术中心自己必须先完成工作方式升级。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所以今天这场宣导,本质上是一次:AI 时代研发人才能力标准的升级,也是技术中心的组织能力升级。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先说清楚:这是什么,不是什么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7F5E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727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490472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这是什么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2148840"/>
            <a:ext cx="478231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一次新的研发人才画像定义——重新定义 AI 时代什么叫「好研发」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一套成长语言——知道自己现在价值在哪,下一步往哪长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一套组织识别机制——识别谁能适应未来、谁需要加速成长</a:t>
            </a:r>
            <a:endParaRPr lang="en-US" sz="125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技术中心 AI 转型的基础动作——内部标准升级了,才能帮客户转型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2344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EF0F4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1463040"/>
            <a:ext cx="548640" cy="548640"/>
          </a:xfrm>
          <a:prstGeom prst="ellipse">
            <a:avLst/>
          </a:prstGeom>
          <a:solidFill>
            <a:srgbClr val="6B7280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5727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490472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不是什么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47688" y="2148840"/>
            <a:ext cx="478231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不是新旧职级的简单映射——不存在「原来什么级、现在对应什么级」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不是今天宣导、明天调整——不会用一次宣导立刻决定个人变化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不是用 AI 自动给人打分——AI 只做整理归类,最终判断由管理者负责</a:t>
            </a:r>
            <a:endParaRPr lang="en-US" sz="1250" dirty="0"/>
          </a:p>
          <a:p>
            <a:pPr marL="177800" indent="-1778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不是否定大家过去的贡献——过去仍有价值,但未来的能力要求变了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3434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2F8F3"/>
          </a:solidFill>
          <a:ln w="9525">
            <a:solidFill>
              <a:srgbClr val="57A77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6B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同时把话说在前面: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914400" y="4846320"/>
            <a:ext cx="99669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这套画像首先服务每个人的成长——看清现在的价值在哪,看清下一步往哪长;它也会用于培养、项目任用和骨干识别。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E6B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涉及组织层面的匹配判断时,会基于持续证据、长期观察、多方信息综合形成——不会单次、单点下结论。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时代,研发人才标准发生了什么变化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过去更关注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0" y="960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未来更关注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EEF0F4"/>
          </a:solidFill>
        </p:spPr>
      </p:sp>
      <p:sp>
        <p:nvSpPr>
          <p:cNvPr id="8" name="Text 6"/>
          <p:cNvSpPr/>
          <p:nvPr/>
        </p:nvSpPr>
        <p:spPr>
          <a:xfrm>
            <a:off x="640080" y="1371600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完成任务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12080" y="1371600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1371600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跑通结果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2404872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EEF0F4"/>
          </a:solidFill>
        </p:spPr>
      </p:sp>
      <p:sp>
        <p:nvSpPr>
          <p:cNvPr id="13" name="Text 11"/>
          <p:cNvSpPr/>
          <p:nvPr/>
        </p:nvSpPr>
        <p:spPr>
          <a:xfrm>
            <a:off x="640080" y="2404872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个人效率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2404872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23760" y="2404872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2404872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团队复用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438144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EEF0F4"/>
          </a:solidFill>
        </p:spPr>
      </p:sp>
      <p:sp>
        <p:nvSpPr>
          <p:cNvPr id="18" name="Text 16"/>
          <p:cNvSpPr/>
          <p:nvPr/>
        </p:nvSpPr>
        <p:spPr>
          <a:xfrm>
            <a:off x="640080" y="3438144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功能交付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12080" y="3438144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223760" y="3438144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3438144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场景闭环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4471416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EEF0F4"/>
          </a:solidFill>
        </p:spPr>
      </p:sp>
      <p:sp>
        <p:nvSpPr>
          <p:cNvPr id="23" name="Text 21"/>
          <p:cNvSpPr/>
          <p:nvPr/>
        </p:nvSpPr>
        <p:spPr>
          <a:xfrm>
            <a:off x="640080" y="4471416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工具使用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12080" y="4471416"/>
            <a:ext cx="1828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223760" y="4471416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4471416"/>
            <a:ext cx="43891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工作方式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未来优秀的研发,不只是「自己把活干完」,而是能围绕一个业务目标,把问题拆清楚、把路径跑通、把风险处理掉、把经验沉淀下来,并让团队下次做得更快、更稳。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我们会看四个核心能力维度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2D6A4F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1737360"/>
            <a:ext cx="777240" cy="77724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67" y="191223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0020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维度一 · 结果闭环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74520" y="214884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不只看任务有没有完成,更看问题有没有真正解决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46520" y="12801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2D6A4F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39128" y="1737360"/>
            <a:ext cx="777240" cy="77724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007" y="191223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160020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维度二 · 问题复杂度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680960" y="214884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不只看做了多少事,更看你能处理多复杂的问题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2918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2D6A4F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2688" y="3749040"/>
            <a:ext cx="777240" cy="77724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67" y="3923919"/>
            <a:ext cx="427482" cy="4274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61188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维度三 · 影响范围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874520" y="416052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不只看你个人强不强,更看你的能力有没有放大别人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46520" y="32918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2D6A4F"/>
          </a:solidFill>
          <a:ln w="9525">
            <a:solidFill>
              <a:srgbClr val="52B78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739128" y="3749040"/>
            <a:ext cx="777240" cy="77724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007" y="3923919"/>
            <a:ext cx="427482" cy="4274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3611880"/>
            <a:ext cx="4023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维度四 · AI 工作方式深度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680960" y="416052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不看谁用了几个工具,看 AI 有没有真正进入你的工作方式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5349240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12382A"/>
          </a:solidFill>
        </p:spPr>
      </p:sp>
      <p:sp>
        <p:nvSpPr>
          <p:cNvPr id="24" name="Text 18"/>
          <p:cNvSpPr/>
          <p:nvPr/>
        </p:nvSpPr>
        <p:spPr>
          <a:xfrm>
            <a:off x="914400" y="5349240"/>
            <a:ext cx="10744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先划清几条边界,避免把四个维度听成一个「综合印象分」: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结果闭环 ≠ 影响范围 · 问题复杂度 ≠ 做事多少 · AI 工作方式深度 ≠ 会几个工具 · 影响范围 ≠ 职位高低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维度一 · 结果闭环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你做的事,是停在任务完成,还是推动了结果闭环?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怎么理解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00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我们不只看任务有没有完成,更看问题有没有真正解决。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举个例子:一个线上 Bug 修好了,只能说明问题暂时恢复。Bug 关闭、代码提交、需求做完,这些都只是基础动作——闭环问的是:这件事之后,还会不会再发生?团队有没有因此变得更稳?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更高阶的表现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7688" y="2240280"/>
            <a:ext cx="4782312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是否找到根因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是否避免同类问题再次发生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是否补齐测试用例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是否沉淀排查文档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是否推动流程改进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41655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这条能力线的递进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C9E0CD"/>
          </a:solidFill>
        </p:spPr>
      </p:sp>
      <p:sp>
        <p:nvSpPr>
          <p:cNvPr id="14" name="Text 12"/>
          <p:cNvSpPr/>
          <p:nvPr/>
        </p:nvSpPr>
        <p:spPr>
          <a:xfrm>
            <a:off x="640080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完成任务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74620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52928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A3C9AC"/>
          </a:solidFill>
        </p:spPr>
      </p:sp>
      <p:sp>
        <p:nvSpPr>
          <p:cNvPr id="17" name="Text 15"/>
          <p:cNvSpPr/>
          <p:nvPr/>
        </p:nvSpPr>
        <p:spPr>
          <a:xfrm>
            <a:off x="2852928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跑通目标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87468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65776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639F7C"/>
          </a:solidFill>
        </p:spPr>
      </p:sp>
      <p:sp>
        <p:nvSpPr>
          <p:cNvPr id="20" name="Text 18"/>
          <p:cNvSpPr/>
          <p:nvPr/>
        </p:nvSpPr>
        <p:spPr>
          <a:xfrm>
            <a:off x="5065776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真正解决问题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00316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78624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44855F"/>
          </a:solidFill>
        </p:spPr>
      </p:sp>
      <p:sp>
        <p:nvSpPr>
          <p:cNvPr id="23" name="Text 21"/>
          <p:cNvSpPr/>
          <p:nvPr/>
        </p:nvSpPr>
        <p:spPr>
          <a:xfrm>
            <a:off x="7278624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放大团队结果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13164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91472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D6A4F"/>
          </a:solidFill>
        </p:spPr>
      </p:sp>
      <p:sp>
        <p:nvSpPr>
          <p:cNvPr id="26" name="Text 24"/>
          <p:cNvSpPr/>
          <p:nvPr/>
        </p:nvSpPr>
        <p:spPr>
          <a:xfrm>
            <a:off x="9491472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牵引组织结果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修好 ≠ 闭环。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维度二 · 问题复杂度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你能不能从明确任务,走向复杂问题解决?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怎么理解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00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我们不只看做了多少事,更看你能处理多复杂的问题。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有些问题边界很清楚,只需要按要求执行;有些问题涉及跨模块、跨角色、跨业务线,甚至需求本身都不清楚。未来更有价值的人,是能处理复杂问题的人——把不确定变成确定,把混乱变成路径。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更高阶的表现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7688" y="2240280"/>
            <a:ext cx="4782312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能拆解复杂业务链路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能识别隐藏风险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能处理历史债务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能协调产品、测试、交付、客户多方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能从不清楚的问题里找到可执行路径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41655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这条能力线的递进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C9E0CD"/>
          </a:solidFill>
        </p:spPr>
      </p:sp>
      <p:sp>
        <p:nvSpPr>
          <p:cNvPr id="14" name="Text 12"/>
          <p:cNvSpPr/>
          <p:nvPr/>
        </p:nvSpPr>
        <p:spPr>
          <a:xfrm>
            <a:off x="640080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明确问题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74620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52928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A3C9AC"/>
          </a:solidFill>
        </p:spPr>
      </p:sp>
      <p:sp>
        <p:nvSpPr>
          <p:cNvPr id="17" name="Text 15"/>
          <p:cNvSpPr/>
          <p:nvPr/>
        </p:nvSpPr>
        <p:spPr>
          <a:xfrm>
            <a:off x="2852928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中等复杂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87468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65776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639F7C"/>
          </a:solidFill>
        </p:spPr>
      </p:sp>
      <p:sp>
        <p:nvSpPr>
          <p:cNvPr id="20" name="Text 18"/>
          <p:cNvSpPr/>
          <p:nvPr/>
        </p:nvSpPr>
        <p:spPr>
          <a:xfrm>
            <a:off x="5065776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跨模块复杂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00316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78624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44855F"/>
          </a:solidFill>
        </p:spPr>
      </p:sp>
      <p:sp>
        <p:nvSpPr>
          <p:cNvPr id="23" name="Text 21"/>
          <p:cNvSpPr/>
          <p:nvPr/>
        </p:nvSpPr>
        <p:spPr>
          <a:xfrm>
            <a:off x="7278624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团队级卡点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13164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91472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D6A4F"/>
          </a:solidFill>
        </p:spPr>
      </p:sp>
      <p:sp>
        <p:nvSpPr>
          <p:cNvPr id="26" name="Text 24"/>
          <p:cNvSpPr/>
          <p:nvPr/>
        </p:nvSpPr>
        <p:spPr>
          <a:xfrm>
            <a:off x="9491472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方向级/系统级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做得多 ≠ 扛得难。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维度三 · 影响范围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你的能力,有没有放大别人?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怎么理解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00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我们不只看你个人强不强,更看你的能力有没有放大别人。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一个人自己做得快,是个人能力。但如果他能把经验沉淀成文档、模板、工具、Skill、Checklist,让团队以后少踩坑,那就是组织能力——把一次项目经验,变成长期资产。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更高阶的表现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47688" y="2240280"/>
            <a:ext cx="4782312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是否沉淀有效文档、可复用模板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是否推动团队流程优化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是否帮助别人提升效率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是否能影响跨团队协作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是否把一次项目经验变成长期资产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441655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这条能力线的递进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C9E0CD"/>
          </a:solidFill>
        </p:spPr>
      </p:sp>
      <p:sp>
        <p:nvSpPr>
          <p:cNvPr id="14" name="Text 12"/>
          <p:cNvSpPr/>
          <p:nvPr/>
        </p:nvSpPr>
        <p:spPr>
          <a:xfrm>
            <a:off x="640080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74620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52928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A3C9AC"/>
          </a:solidFill>
        </p:spPr>
      </p:sp>
      <p:sp>
        <p:nvSpPr>
          <p:cNvPr id="17" name="Text 15"/>
          <p:cNvSpPr/>
          <p:nvPr/>
        </p:nvSpPr>
        <p:spPr>
          <a:xfrm>
            <a:off x="2852928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模块/项目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87468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65776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639F7C"/>
          </a:solidFill>
        </p:spPr>
      </p:sp>
      <p:sp>
        <p:nvSpPr>
          <p:cNvPr id="20" name="Text 18"/>
          <p:cNvSpPr/>
          <p:nvPr/>
        </p:nvSpPr>
        <p:spPr>
          <a:xfrm>
            <a:off x="5065776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跨职能/团队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00316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78624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44855F"/>
          </a:solidFill>
        </p:spPr>
      </p:sp>
      <p:sp>
        <p:nvSpPr>
          <p:cNvPr id="23" name="Text 21"/>
          <p:cNvSpPr/>
          <p:nvPr/>
        </p:nvSpPr>
        <p:spPr>
          <a:xfrm>
            <a:off x="7278624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跨团队/领域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13164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91472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D6A4F"/>
          </a:solidFill>
        </p:spPr>
      </p:sp>
      <p:sp>
        <p:nvSpPr>
          <p:cNvPr id="26" name="Text 24"/>
          <p:cNvSpPr/>
          <p:nvPr/>
        </p:nvSpPr>
        <p:spPr>
          <a:xfrm>
            <a:off x="9491472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公司/组织生态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他负责的地方,周围也变得更有效——这与职位高低无关。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维度四 · AI 工作方式深度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有没有真正进入你的工作方式?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怎么理解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00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我们不是看谁用了几个 AI 工具,也不是看谁最会写提示词。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看的是:AI 是否真实进入你的岗位工作方式、解决实际问题、形成稳定价值——不看展示热情,不做表演型比较。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三个层次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29400" y="2231136"/>
            <a:ext cx="841248" cy="384048"/>
          </a:xfrm>
          <a:prstGeom prst="roundRect">
            <a:avLst>
              <a:gd name="adj" fmla="val 14286"/>
            </a:avLst>
          </a:prstGeom>
          <a:solidFill>
            <a:srgbClr val="52B788"/>
          </a:solidFill>
        </p:spPr>
      </p:sp>
      <p:sp>
        <p:nvSpPr>
          <p:cNvPr id="12" name="Text 10"/>
          <p:cNvSpPr/>
          <p:nvPr/>
        </p:nvSpPr>
        <p:spPr>
          <a:xfrm>
            <a:off x="6629400" y="2231136"/>
            <a:ext cx="8412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167128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帮你写代码、查资料、生成文档——这很好,但还只是个人提效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2889504"/>
            <a:ext cx="841248" cy="384048"/>
          </a:xfrm>
          <a:prstGeom prst="roundRect">
            <a:avLst>
              <a:gd name="adj" fmla="val 14286"/>
            </a:avLst>
          </a:prstGeom>
          <a:solidFill>
            <a:srgbClr val="52B788"/>
          </a:solidFill>
        </p:spPr>
      </p:sp>
      <p:sp>
        <p:nvSpPr>
          <p:cNvPr id="15" name="Text 13"/>
          <p:cNvSpPr/>
          <p:nvPr/>
        </p:nvSpPr>
        <p:spPr>
          <a:xfrm>
            <a:off x="6629400" y="2889504"/>
            <a:ext cx="8412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更高阶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825496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AI 放进完整工作流:需求理解、链路分析、方案生成、风险识别、用例生成、Bug 归因、复盘沉淀、Skill 建设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3547872"/>
            <a:ext cx="841248" cy="384048"/>
          </a:xfrm>
          <a:prstGeom prst="roundRect">
            <a:avLst>
              <a:gd name="adj" fmla="val 14286"/>
            </a:avLst>
          </a:prstGeom>
          <a:solidFill>
            <a:srgbClr val="52B788"/>
          </a:solidFill>
        </p:spPr>
      </p:sp>
      <p:sp>
        <p:nvSpPr>
          <p:cNvPr id="18" name="Text 16"/>
          <p:cNvSpPr/>
          <p:nvPr/>
        </p:nvSpPr>
        <p:spPr>
          <a:xfrm>
            <a:off x="6629400" y="3547872"/>
            <a:ext cx="8412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3483864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AI 重塑某一类工作方式,让团队也能复用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41655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这条能力线的递进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C9E0CD"/>
          </a:solidFill>
        </p:spPr>
      </p:sp>
      <p:sp>
        <p:nvSpPr>
          <p:cNvPr id="22" name="Text 20"/>
          <p:cNvSpPr/>
          <p:nvPr/>
        </p:nvSpPr>
        <p:spPr>
          <a:xfrm>
            <a:off x="640080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辅助提效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74620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852928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A3C9AC"/>
          </a:solidFill>
        </p:spPr>
      </p:sp>
      <p:sp>
        <p:nvSpPr>
          <p:cNvPr id="25" name="Text 23"/>
          <p:cNvSpPr/>
          <p:nvPr/>
        </p:nvSpPr>
        <p:spPr>
          <a:xfrm>
            <a:off x="2852928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内化为个人工具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87468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65776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639F7C"/>
          </a:solidFill>
        </p:spPr>
      </p:sp>
      <p:sp>
        <p:nvSpPr>
          <p:cNvPr id="28" name="Text 26"/>
          <p:cNvSpPr/>
          <p:nvPr/>
        </p:nvSpPr>
        <p:spPr>
          <a:xfrm>
            <a:off x="5065776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融入业务解题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00316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78624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44855F"/>
          </a:solidFill>
        </p:spPr>
      </p:sp>
      <p:sp>
        <p:nvSpPr>
          <p:cNvPr id="31" name="Text 29"/>
          <p:cNvSpPr/>
          <p:nvPr/>
        </p:nvSpPr>
        <p:spPr>
          <a:xfrm>
            <a:off x="7278624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团队可复用工作流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13164" y="4800600"/>
            <a:ext cx="19202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2B7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91472" y="4800600"/>
            <a:ext cx="2048256" cy="658368"/>
          </a:xfrm>
          <a:prstGeom prst="roundRect">
            <a:avLst>
              <a:gd name="adj" fmla="val 9722"/>
            </a:avLst>
          </a:prstGeom>
          <a:solidFill>
            <a:srgbClr val="2D6A4F"/>
          </a:solidFill>
        </p:spPr>
      </p:sp>
      <p:sp>
        <p:nvSpPr>
          <p:cNvPr id="34" name="Text 32"/>
          <p:cNvSpPr/>
          <p:nvPr/>
        </p:nvSpPr>
        <p:spPr>
          <a:xfrm>
            <a:off x="9491472" y="4800600"/>
            <a:ext cx="2048256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重塑工作方式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不会因为「会几个工具」就高评,也不会因为「不爱说 AI」就低评——不看展示热情,只看真实价值。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六种研发人才画像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这不是排位表,而是一条成长路径。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30168" cy="393192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9D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3630168" cy="1097280"/>
          </a:xfrm>
          <a:prstGeom prst="roundRect">
            <a:avLst>
              <a:gd name="adj" fmla="val 5833"/>
            </a:avLst>
          </a:prstGeom>
          <a:solidFill>
            <a:srgbClr val="7FAE7E"/>
          </a:solidFill>
        </p:spPr>
      </p:sp>
      <p:sp>
        <p:nvSpPr>
          <p:cNvPr id="8" name="Shape 6"/>
          <p:cNvSpPr/>
          <p:nvPr/>
        </p:nvSpPr>
        <p:spPr>
          <a:xfrm>
            <a:off x="640080" y="2103120"/>
            <a:ext cx="3630168" cy="548640"/>
          </a:xfrm>
          <a:prstGeom prst="rect">
            <a:avLst/>
          </a:prstGeom>
          <a:solidFill>
            <a:srgbClr val="7FAE7E"/>
          </a:solidFill>
        </p:spPr>
      </p:sp>
      <p:sp>
        <p:nvSpPr>
          <p:cNvPr id="9" name="Shape 7"/>
          <p:cNvSpPr/>
          <p:nvPr/>
        </p:nvSpPr>
        <p:spPr>
          <a:xfrm>
            <a:off x="896112" y="1792224"/>
            <a:ext cx="621792" cy="62179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4767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691640"/>
            <a:ext cx="253288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独立交付层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2926080"/>
            <a:ext cx="31729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入门担当者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3328416"/>
            <a:ext cx="317296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「先把基本执行能力打稳」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" y="4160520"/>
            <a:ext cx="31729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独立交付者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4562856"/>
            <a:ext cx="317296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「我能独立跑通一段事」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53128" y="1554480"/>
            <a:ext cx="3630168" cy="393192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9D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53128" y="1554480"/>
            <a:ext cx="3630168" cy="1097280"/>
          </a:xfrm>
          <a:prstGeom prst="roundRect">
            <a:avLst>
              <a:gd name="adj" fmla="val 5833"/>
            </a:avLst>
          </a:prstGeom>
          <a:solidFill>
            <a:srgbClr val="4E8E66"/>
          </a:solidFill>
        </p:spPr>
      </p:sp>
      <p:sp>
        <p:nvSpPr>
          <p:cNvPr id="18" name="Shape 15"/>
          <p:cNvSpPr/>
          <p:nvPr/>
        </p:nvSpPr>
        <p:spPr>
          <a:xfrm>
            <a:off x="4453128" y="2103120"/>
            <a:ext cx="3630168" cy="548640"/>
          </a:xfrm>
          <a:prstGeom prst="rect">
            <a:avLst/>
          </a:prstGeom>
          <a:solidFill>
            <a:srgbClr val="4E8E66"/>
          </a:solidFill>
        </p:spPr>
      </p:sp>
      <p:sp>
        <p:nvSpPr>
          <p:cNvPr id="19" name="Shape 16"/>
          <p:cNvSpPr/>
          <p:nvPr/>
        </p:nvSpPr>
        <p:spPr>
          <a:xfrm>
            <a:off x="4709160" y="1792224"/>
            <a:ext cx="621792" cy="62179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47672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13248" y="1691640"/>
            <a:ext cx="253288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问题解决与价值放大层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681728" y="2926080"/>
            <a:ext cx="31729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问题终结者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81728" y="3328416"/>
            <a:ext cx="317296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「这件事交给我,你不用一直担心」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681728" y="4160520"/>
            <a:ext cx="31729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价值放大器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4681728" y="4562856"/>
            <a:ext cx="317296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「我负责的地方,周围也会变好」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266176" y="1554480"/>
            <a:ext cx="3630168" cy="393192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9D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266176" y="1554480"/>
            <a:ext cx="3630168" cy="1097280"/>
          </a:xfrm>
          <a:prstGeom prst="roundRect">
            <a:avLst>
              <a:gd name="adj" fmla="val 5833"/>
            </a:avLst>
          </a:prstGeom>
          <a:solidFill>
            <a:srgbClr val="2D6A4F"/>
          </a:solidFill>
        </p:spPr>
      </p:sp>
      <p:sp>
        <p:nvSpPr>
          <p:cNvPr id="28" name="Shape 24"/>
          <p:cNvSpPr/>
          <p:nvPr/>
        </p:nvSpPr>
        <p:spPr>
          <a:xfrm>
            <a:off x="8266176" y="2103120"/>
            <a:ext cx="3630168" cy="54864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29" name="Shape 25"/>
          <p:cNvSpPr/>
          <p:nvPr/>
        </p:nvSpPr>
        <p:spPr>
          <a:xfrm>
            <a:off x="8522208" y="1792224"/>
            <a:ext cx="621792" cy="62179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1947672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226296" y="1691640"/>
            <a:ext cx="253288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方向定义与组织构建层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8494776" y="2926080"/>
            <a:ext cx="31729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领域定义者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8494776" y="3328416"/>
            <a:ext cx="317296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「这个方向怎么做,他说得清楚、推得动」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8494776" y="4160520"/>
            <a:ext cx="317296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生态构建者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8494776" y="4562856"/>
            <a:ext cx="317296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「他不在,方向和机制也被留下」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40080" y="559612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2F8F3"/>
          </a:solidFill>
          <a:ln w="9525">
            <a:solidFill>
              <a:srgbClr val="57A77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14400" y="5596128"/>
            <a:ext cx="87782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6B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这是成长路径,不是一次定型</a:t>
            </a: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不同维度的发展不一定同步 · 重点是帮每个人看清下一步怎么成长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9418320" y="5596128"/>
            <a:ext cx="21031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对应盘点序列 T1–T6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57200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58368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六种画像的典型表现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621024" cy="502920"/>
          </a:xfrm>
          <a:prstGeom prst="roundRect">
            <a:avLst>
              <a:gd name="adj" fmla="val 10909"/>
            </a:avLst>
          </a:prstGeom>
          <a:solidFill>
            <a:srgbClr val="7FAE7E"/>
          </a:solidFill>
        </p:spPr>
      </p:sp>
      <p:sp>
        <p:nvSpPr>
          <p:cNvPr id="6" name="Text 4"/>
          <p:cNvSpPr/>
          <p:nvPr/>
        </p:nvSpPr>
        <p:spPr>
          <a:xfrm>
            <a:off x="777240" y="1188720"/>
            <a:ext cx="33467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独立交付层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621024" cy="2057400"/>
          </a:xfrm>
          <a:prstGeom prst="roundRect">
            <a:avLst>
              <a:gd name="adj" fmla="val 3111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84832"/>
            <a:ext cx="2706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入门担当者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5669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2578608"/>
            <a:ext cx="3163824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给到明确需求后能完成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遇到问题会主动求助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作为跟随式辅助工具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3621024" cy="2057400"/>
          </a:xfrm>
          <a:prstGeom prst="roundRect">
            <a:avLst>
              <a:gd name="adj" fmla="val 3111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25112"/>
            <a:ext cx="2706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独立交付者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3864" y="4343400"/>
            <a:ext cx="5669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4818888"/>
            <a:ext cx="3163824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能自己规划开发路径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开始关注上线结果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已成为个人效率工具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44568" y="1188720"/>
            <a:ext cx="3621024" cy="502920"/>
          </a:xfrm>
          <a:prstGeom prst="roundRect">
            <a:avLst>
              <a:gd name="adj" fmla="val 10909"/>
            </a:avLst>
          </a:prstGeom>
          <a:solidFill>
            <a:srgbClr val="4E8E66"/>
          </a:solidFill>
        </p:spPr>
      </p:sp>
      <p:sp>
        <p:nvSpPr>
          <p:cNvPr id="16" name="Text 14"/>
          <p:cNvSpPr/>
          <p:nvPr/>
        </p:nvSpPr>
        <p:spPr>
          <a:xfrm>
            <a:off x="4681728" y="1188720"/>
            <a:ext cx="33467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问题解决与价值放大层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44568" y="1920240"/>
            <a:ext cx="3621024" cy="2057400"/>
          </a:xfrm>
          <a:prstGeom prst="roundRect">
            <a:avLst>
              <a:gd name="adj" fmla="val 3111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2084832"/>
            <a:ext cx="2706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问题终结者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88352" y="2103120"/>
            <a:ext cx="5669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578608"/>
            <a:ext cx="3163824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能识别边界、依赖、风险、根因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Bug 不只临时绕过,推动彻底解决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进入业务问题解决场景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44568" y="4160520"/>
            <a:ext cx="3621024" cy="2057400"/>
          </a:xfrm>
          <a:prstGeom prst="roundRect">
            <a:avLst>
              <a:gd name="adj" fmla="val 3111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4325112"/>
            <a:ext cx="2706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价值放大器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88352" y="4343400"/>
            <a:ext cx="5669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818888"/>
            <a:ext cx="3163824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主动识别团队卡点并推动改进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沉淀规范 / 模板 / 工具 / 机制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有团队可复用的 AI 工作流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49056" y="1188720"/>
            <a:ext cx="3621024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</p:spPr>
      </p:sp>
      <p:sp>
        <p:nvSpPr>
          <p:cNvPr id="26" name="Text 24"/>
          <p:cNvSpPr/>
          <p:nvPr/>
        </p:nvSpPr>
        <p:spPr>
          <a:xfrm>
            <a:off x="8586216" y="1188720"/>
            <a:ext cx="33467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方向定义与组织构建层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449056" y="1920240"/>
            <a:ext cx="3621024" cy="2057400"/>
          </a:xfrm>
          <a:prstGeom prst="roundRect">
            <a:avLst>
              <a:gd name="adj" fmla="val 3111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77656" y="2084832"/>
            <a:ext cx="2706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领域定义者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92840" y="2103120"/>
            <a:ext cx="5669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05088" y="2578608"/>
            <a:ext cx="3163824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提出系统性方案并推动采纳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定义技术方向 / 治理口径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 AI 重塑领域工作方式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49056" y="4160520"/>
            <a:ext cx="3621024" cy="2057400"/>
          </a:xfrm>
          <a:prstGeom prst="roundRect">
            <a:avLst>
              <a:gd name="adj" fmla="val 3111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77656" y="4325112"/>
            <a:ext cx="270662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生态构建者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92840" y="4343400"/>
            <a:ext cx="5669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05088" y="4818888"/>
            <a:ext cx="3163824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组织人、机制、资源与节奏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团队不依赖某一个人也持续运转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 AI 融入组织协作的方式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我们会如何看证据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不只靠感觉判断,也不只听自我描述——尽量基于持续证据。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19072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证据来源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0632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迭代数据:迭代等级、角色、周期与结果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质量数据:Bug、线上问题、处理方式与闭环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技术方案:方案设计能力、风险识别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周报 / 月度复盘:自我总结、举证、反思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文档与知识沉淀:是否沉淀有效资产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194560"/>
            <a:ext cx="306324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与 AI Coding 实践:可复用 AI 工作方式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主管评价:复杂度、主动性、可替代性、闭环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协作方反馈:产品、测试、交付、业务的真实反馈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个人自证材料:最能代表自己能力的项目成果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4114800" cy="4343400"/>
          </a:xfrm>
          <a:prstGeom prst="roundRect">
            <a:avLst>
              <a:gd name="adj" fmla="val 1778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719072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看证据的五个原则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73568" y="2240280"/>
            <a:ext cx="3529584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看持续,不只看一次高光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看实际影响,不只看本人叙述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看真实价值,不只看可见动作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看问题闭环,不只看任务完成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看 AI 融入深度,不只看工具熟练度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在评估中扮演什么角色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会参与,但不是裁判。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7F5E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可以做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286000"/>
            <a:ext cx="4782312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汇总材料、结构化证据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按四个维度归类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拆开事实、判断和观点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提醒争议点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辅助生成画像分析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EF0F4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7373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不做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47688" y="2286000"/>
            <a:ext cx="4782312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不自动定级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不替代主管判断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不直接决定人员动作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不作为唯一依据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不参与最终争议裁决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394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D6A4F"/>
          </a:solidFill>
        </p:spPr>
      </p:sp>
      <p:sp>
        <p:nvSpPr>
          <p:cNvPr id="13" name="Text 11"/>
          <p:cNvSpPr/>
          <p:nvPr/>
        </p:nvSpPr>
        <p:spPr>
          <a:xfrm>
            <a:off x="914400" y="5394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最终判断、校准、发展建议和组织决策,仍然由管理者负责。</a:t>
            </a:r>
            <a:r>
              <a:rPr lang="en-US" sz="1400" i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AI 帮我们看得更清楚,但不替我们承担管理责任。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组织会怎么使用这套画像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9596" y="1691640"/>
            <a:ext cx="685800" cy="68580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046" y="18630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14600"/>
            <a:ext cx="1901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成长建议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3017520"/>
            <a:ext cx="1792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知道自己现在能力在哪,下一步突破什么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71216" y="14173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0732" y="1691640"/>
            <a:ext cx="685800" cy="68580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18630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2514600"/>
            <a:ext cx="1901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培养方向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017520" y="3017520"/>
            <a:ext cx="1792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不同画像匹配不同训练、项目机会与管理方式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02352" y="14173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01868" y="1691640"/>
            <a:ext cx="685800" cy="68580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18" y="18630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93792" y="2514600"/>
            <a:ext cx="1901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项目任用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248656" y="3017520"/>
            <a:ext cx="1792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复杂项目、关键项目、AI 转型项目匹配合适的人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33488" y="14173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33004" y="1691640"/>
            <a:ext cx="685800" cy="685800"/>
          </a:xfrm>
          <a:prstGeom prst="ellipse">
            <a:avLst/>
          </a:prstGeom>
          <a:solidFill>
            <a:srgbClr val="2D6A4F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454" y="18630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24928" y="2514600"/>
            <a:ext cx="1901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骨干识别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479792" y="3017520"/>
            <a:ext cx="1792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关注能解决复杂问题、放大团队、推动闭环的人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564624" y="141732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64140" y="1691640"/>
            <a:ext cx="685800" cy="685800"/>
          </a:xfrm>
          <a:prstGeom prst="ellipse">
            <a:avLst/>
          </a:prstGeom>
          <a:solidFill>
            <a:srgbClr val="52B788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590" y="1863090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56064" y="2514600"/>
            <a:ext cx="1901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组织匹配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710928" y="3017520"/>
            <a:ext cx="1792224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基于持续证据与长期观察,综合判断组织匹配度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0080" y="4526280"/>
            <a:ext cx="11009376" cy="1508760"/>
          </a:xfrm>
          <a:prstGeom prst="roundRect">
            <a:avLst>
              <a:gd name="adj" fmla="val 4848"/>
            </a:avLst>
          </a:prstGeom>
          <a:solidFill>
            <a:srgbClr val="F2F8F3"/>
          </a:solidFill>
          <a:ln w="9525">
            <a:solidFill>
              <a:srgbClr val="57A773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14400" y="4526280"/>
            <a:ext cx="10460736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6B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公司不是要用 AI 替代人,是要用 AI 重新定义人的价值——能和 AI 一起创造更大结果的人,会有更大机会。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组织匹配相关的判断,会基于持续证据、长期观察、多方信息综合形成,不会单次、单点下结论。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</p:spPr>
      </p:sp>
      <p:sp>
        <p:nvSpPr>
          <p:cNvPr id="4" name="Text 2"/>
          <p:cNvSpPr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每个人接下来应该怎么做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060704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从今天起,问自己三个问题。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630168" cy="3931920"/>
          </a:xfrm>
          <a:prstGeom prst="roundRect">
            <a:avLst>
              <a:gd name="adj" fmla="val 2015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2D6A4F"/>
          </a:solidFill>
        </p:spPr>
      </p:sp>
      <p:sp>
        <p:nvSpPr>
          <p:cNvPr id="8" name="Text 6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17296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我负责的事,是完成任务,还是跑通结果?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3172968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需求做完、代码提交、Bug 关闭只是基础。更高阶是:目标达成、问题真正解决、风险被处理、减少返工、经验被沉淀。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53128" y="1600200"/>
            <a:ext cx="3630168" cy="3931920"/>
          </a:xfrm>
          <a:prstGeom prst="roundRect">
            <a:avLst>
              <a:gd name="adj" fmla="val 2015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828800"/>
            <a:ext cx="548640" cy="548640"/>
          </a:xfrm>
          <a:prstGeom prst="ellipse">
            <a:avLst/>
          </a:prstGeom>
          <a:solidFill>
            <a:srgbClr val="2D6A4F"/>
          </a:solidFill>
        </p:spPr>
      </p:sp>
      <p:sp>
        <p:nvSpPr>
          <p:cNvPr id="13" name="Text 11"/>
          <p:cNvSpPr/>
          <p:nvPr/>
        </p:nvSpPr>
        <p:spPr>
          <a:xfrm>
            <a:off x="4681728" y="1828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2514600"/>
            <a:ext cx="317296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我的经验,有没有变成团队可复用资产?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81728" y="3520440"/>
            <a:ext cx="3172968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只有你能解决,说明你重要;沉淀下来让团队也能解决,说明你在创造组织能力。多沉淀:技术方案、链路说明、排查文档、Checklist、Prompt、Skill、复盘、风险清单。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66176" y="1600200"/>
            <a:ext cx="3630168" cy="3931920"/>
          </a:xfrm>
          <a:prstGeom prst="roundRect">
            <a:avLst>
              <a:gd name="adj" fmla="val 2015"/>
            </a:avLst>
          </a:prstGeom>
          <a:solidFill>
            <a:srgbClr val="EAF3EC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94776" y="1828800"/>
            <a:ext cx="548640" cy="548640"/>
          </a:xfrm>
          <a:prstGeom prst="ellipse">
            <a:avLst/>
          </a:prstGeom>
          <a:solidFill>
            <a:srgbClr val="2D6A4F"/>
          </a:solidFill>
        </p:spPr>
      </p:sp>
      <p:sp>
        <p:nvSpPr>
          <p:cNvPr id="18" name="Text 16"/>
          <p:cNvSpPr/>
          <p:nvPr/>
        </p:nvSpPr>
        <p:spPr>
          <a:xfrm>
            <a:off x="8494776" y="1828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4776" y="2514600"/>
            <a:ext cx="317296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 AI 使用,是个人提效,还是进入完整工作流?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94776" y="3520440"/>
            <a:ext cx="3172968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只用 AI 写代码是起点。更重要的是:需求阶段拆业务、方案阶段识风险、开发提效、测试生成用例、上线对照风险、复盘沉淀资产——形成自己的 AI 工作方式。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92608" y="475488"/>
            <a:ext cx="155448" cy="155448"/>
          </a:xfrm>
          <a:prstGeom prst="diamond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93192" y="676656"/>
            <a:ext cx="155448" cy="155448"/>
          </a:xfrm>
          <a:prstGeom prst="diamond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 i="0">
                <a:solidFill>
                  <a:srgbClr val="2D6A4F"/>
                </a:solidFill>
                <a:latin typeface="微软雅黑"/>
                <a:ea typeface="微软雅黑"/>
                <a:cs typeface="微软雅黑"/>
              </a:rPr>
              <a:t>实施节奏与后续规划</a:t>
            </a:r>
            <a:endParaRPr sz="3100" b="1" i="0">
              <a:solidFill>
                <a:srgbClr val="2D6A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10972800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整体推进节奏——分阶段、留足时间、稳步推进。</a:t>
            </a:r>
            <a:endParaRPr sz="1350" b="0" i="0">
              <a:solidFill>
                <a:srgbClr val="6B7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06040" cy="3200400"/>
          </a:xfrm>
          <a:prstGeom prst="roundRect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2148840" cy="566928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6.23</a:t>
            </a:r>
            <a:endParaRPr sz="17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Oval 8"/>
          <p:cNvSpPr/>
          <p:nvPr/>
        </p:nvSpPr>
        <p:spPr>
          <a:xfrm>
            <a:off x="1687068" y="3063240"/>
            <a:ext cx="512064" cy="51206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8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2D6A4F"/>
                </a:solidFill>
                <a:latin typeface="微软雅黑"/>
                <a:ea typeface="微软雅黑"/>
                <a:cs typeface="微软雅黑"/>
              </a:rPr>
              <a:t>技术中心全员宣导</a:t>
            </a:r>
            <a:endParaRPr sz="1550" b="1" i="0">
              <a:solidFill>
                <a:srgbClr val="2D6A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43891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面向技术中心全员,统一讲清新画像与新标准</a:t>
            </a:r>
            <a:endParaRPr sz="1150" b="0" i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9544" y="2971800"/>
            <a:ext cx="1828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52B788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400" b="1" i="0">
              <a:solidFill>
                <a:srgbClr val="52B7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2606040" cy="3200400"/>
          </a:xfrm>
          <a:prstGeom prst="roundRect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286000"/>
            <a:ext cx="2148840" cy="566928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7.1 - 9.30</a:t>
            </a:r>
            <a:endParaRPr sz="17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75988" y="3063240"/>
            <a:ext cx="512064" cy="51206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8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37947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2D6A4F"/>
                </a:solidFill>
                <a:latin typeface="微软雅黑"/>
                <a:ea typeface="微软雅黑"/>
                <a:cs typeface="微软雅黑"/>
              </a:rPr>
              <a:t>完成整体评价</a:t>
            </a:r>
            <a:endParaRPr sz="1550" b="1" i="0">
              <a:solidFill>
                <a:srgbClr val="2D6A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43891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基于持续证据,按新画像对全员完成整体评价</a:t>
            </a:r>
            <a:endParaRPr sz="1150" b="0" i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98464" y="2971800"/>
            <a:ext cx="1828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52B788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400" b="1" i="0">
              <a:solidFill>
                <a:srgbClr val="52B7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606040" cy="3200400"/>
          </a:xfrm>
          <a:prstGeom prst="roundRect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286000"/>
            <a:ext cx="2148840" cy="566928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月</a:t>
            </a:r>
            <a:endParaRPr sz="17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264908" y="3063240"/>
            <a:ext cx="512064" cy="51206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8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37947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2D6A4F"/>
                </a:solidFill>
                <a:latin typeface="微软雅黑"/>
                <a:ea typeface="微软雅黑"/>
                <a:cs typeface="微软雅黑"/>
              </a:rPr>
              <a:t>新能力定级确认</a:t>
            </a:r>
            <a:endParaRPr sz="1550" b="1" i="0">
              <a:solidFill>
                <a:srgbClr val="2D6A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完成新能力定级的确认</a:t>
            </a:r>
            <a:endParaRPr sz="1150" b="0" i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87384" y="2971800"/>
            <a:ext cx="1828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52B788"/>
                </a:solidFill>
                <a:latin typeface="微软雅黑"/>
                <a:ea typeface="微软雅黑"/>
                <a:cs typeface="微软雅黑"/>
              </a:rPr>
              <a:t>›</a:t>
            </a:r>
            <a:endParaRPr sz="2400" b="1" i="0">
              <a:solidFill>
                <a:srgbClr val="52B78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06840" y="2011680"/>
            <a:ext cx="2606040" cy="3200400"/>
          </a:xfrm>
          <a:prstGeom prst="round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2286000"/>
            <a:ext cx="2148840" cy="566928"/>
          </a:xfrm>
          <a:prstGeom prst="round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月</a:t>
            </a:r>
            <a:endParaRPr sz="17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053828" y="3063240"/>
            <a:ext cx="512064" cy="512064"/>
          </a:xfrm>
          <a:prstGeom prst="ellipse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8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0" y="37947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沟通与反馈</a:t>
            </a:r>
            <a:endParaRPr sz="15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89719" y="43891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D8E9DC"/>
                </a:solidFill>
                <a:latin typeface="微软雅黑"/>
                <a:ea typeface="微软雅黑"/>
                <a:cs typeface="微软雅黑"/>
              </a:rPr>
              <a:t>完成与每个人的沟通及反馈</a:t>
            </a:r>
            <a:endParaRPr sz="1150" b="0" i="0">
              <a:solidFill>
                <a:srgbClr val="D8E9D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" y="5486400"/>
            <a:ext cx="10972800" cy="841248"/>
          </a:xfrm>
          <a:prstGeom prst="roundRect">
            <a:avLst/>
          </a:prstGeom>
          <a:solidFill>
            <a:srgbClr val="F2F8F3"/>
          </a:solidFill>
          <a:ln w="9525">
            <a:solidFill>
              <a:srgbClr val="57A7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0" rIns="274320" bIns="0" rtlCol="0" anchor="ctr"/>
          <a:lstStyle/>
          <a:p>
            <a:pPr algn="l"/>
            <a:r>
              <a:rPr sz="1350" b="1" i="0">
                <a:solidFill>
                  <a:srgbClr val="1E6B47"/>
                </a:solidFill>
                <a:latin typeface="微软雅黑"/>
                <a:ea typeface="微软雅黑"/>
                <a:cs typeface="微软雅黑"/>
              </a:rPr>
              <a:t>整个过程分阶段推进、留足时间。</a:t>
            </a:r>
            <a:r>
              <a:rPr sz="1350" b="0" i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评价与定级都基于持续证据,不赶进度、不一次定死;沟通反馈环节,确保每个人都清楚自己的画像与下一步成长方向。</a:t>
            </a:r>
            <a:endParaRPr sz="1350" b="0" i="0">
              <a:solidFill>
                <a:srgbClr val="1F2937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22960" y="7772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这次画像,不是为了否定过去,也不是为了制造焦虑。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22960" y="2377440"/>
            <a:ext cx="106070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未来真正有价值的人,是能理解场景、定义问题、</a:t>
            </a:r>
            <a:endParaRPr lang="en-US" sz="2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编排资源、沉淀能力,并用 AI 推动结果闭环的人。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411480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4187952"/>
            <a:ext cx="3044952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对愿意成长的人,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这是路径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53712" y="411480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 w="12700">
            <a:solidFill>
              <a:srgbClr val="4E8E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82312" y="4187952"/>
            <a:ext cx="3044952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对能跑出来的人,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这是机会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84464" y="411480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13064" y="4187952"/>
            <a:ext cx="3044952" cy="7680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对长期不愿改变的人,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这是新的组织要求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" y="5440680"/>
            <a:ext cx="2377440" cy="18288"/>
          </a:xfrm>
          <a:prstGeom prst="rect">
            <a:avLst/>
          </a:prstGeom>
          <a:solidFill>
            <a:srgbClr val="52B788"/>
          </a:solidFill>
        </p:spPr>
      </p:sp>
      <p:sp>
        <p:nvSpPr>
          <p:cNvPr id="12" name="Text 9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D8E9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我们不是在用一把新尺子否定过去。我们是在面对一个新的时代,重新定义未来。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4486</Words>
  <Application>WPS 表格</Application>
  <PresentationFormat>On-screen Show (16:9)</PresentationFormat>
  <Paragraphs>543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汉仪书宋二KW</vt:lpstr>
      <vt:lpstr>Calibri</vt:lpstr>
      <vt:lpstr>Helvetica Neue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时代研发人才新画像</dc:title>
  <dc:creator>技术中心</dc:creator>
  <dc:subject>PptxGenJS Presentation</dc:subject>
  <cp:lastModifiedBy>cycle</cp:lastModifiedBy>
  <cp:revision>2</cp:revision>
  <dcterms:created xsi:type="dcterms:W3CDTF">2026-06-15T03:02:43Z</dcterms:created>
  <dcterms:modified xsi:type="dcterms:W3CDTF">2026-06-15T03:02:43Z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E5CBFE88B20670C6536B2F6AB153B415_42</vt:lpwstr>
  </property>
  <property fmtid="{D5CDD505-2E9C-101B-9397-08002B2CF9AE}" pid="3" name="KSOProductBuildVer">
    <vt:lpwstr>2052-12.1.24031.24031</vt:lpwstr>
  </property>
</Properties>
</file>